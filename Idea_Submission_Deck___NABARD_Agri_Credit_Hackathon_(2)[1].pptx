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67" r:id="rId5"/>
    <p:sldId id="268" r:id="rId6"/>
    <p:sldId id="259" r:id="rId7"/>
    <p:sldId id="260" r:id="rId8"/>
    <p:sldId id="261" r:id="rId9"/>
    <p:sldId id="262" r:id="rId10"/>
    <p:sldId id="263" r:id="rId11"/>
    <p:sldId id="264" r:id="rId12"/>
    <p:sldId id="265" r:id="rId13"/>
    <p:sldId id="266" r:id="rId14"/>
  </p:sldIdLst>
  <p:sldSz cx="9144000" cy="5143500" type="screen16x9"/>
  <p:notesSz cx="6858000" cy="9144000"/>
  <p:embeddedFontLst>
    <p:embeddedFont>
      <p:font typeface="Geist"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5B5583-8F04-4E9C-9DCD-7D6ABBC0FED8}" v="17" dt="2025-11-25T08:40:53.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ssasvini yessasvini" userId="230e4cad95eb1d99" providerId="LiveId" clId="{5B53E4DF-CD75-4059-9A3F-ABFF74D0EE53}"/>
    <pc:docChg chg="undo custSel addSld modSld">
      <pc:chgData name="yessasvini yessasvini" userId="230e4cad95eb1d99" providerId="LiveId" clId="{5B53E4DF-CD75-4059-9A3F-ABFF74D0EE53}" dt="2025-11-25T08:40:53.920" v="202" actId="931"/>
      <pc:docMkLst>
        <pc:docMk/>
      </pc:docMkLst>
      <pc:sldChg chg="modSp mod modNotes">
        <pc:chgData name="yessasvini yessasvini" userId="230e4cad95eb1d99" providerId="LiveId" clId="{5B53E4DF-CD75-4059-9A3F-ABFF74D0EE53}" dt="2025-11-25T07:18:24.824" v="10" actId="14100"/>
        <pc:sldMkLst>
          <pc:docMk/>
          <pc:sldMk cId="0" sldId="256"/>
        </pc:sldMkLst>
        <pc:spChg chg="mod">
          <ac:chgData name="yessasvini yessasvini" userId="230e4cad95eb1d99" providerId="LiveId" clId="{5B53E4DF-CD75-4059-9A3F-ABFF74D0EE53}" dt="2025-11-25T07:18:24.824" v="10" actId="14100"/>
          <ac:spMkLst>
            <pc:docMk/>
            <pc:sldMk cId="0" sldId="256"/>
            <ac:spMk id="56" creationId="{00000000-0000-0000-0000-000000000000}"/>
          </ac:spMkLst>
        </pc:spChg>
      </pc:sldChg>
      <pc:sldChg chg="modSp mod">
        <pc:chgData name="yessasvini yessasvini" userId="230e4cad95eb1d99" providerId="LiveId" clId="{5B53E4DF-CD75-4059-9A3F-ABFF74D0EE53}" dt="2025-11-25T07:19:34.703" v="26" actId="1076"/>
        <pc:sldMkLst>
          <pc:docMk/>
          <pc:sldMk cId="0" sldId="257"/>
        </pc:sldMkLst>
        <pc:spChg chg="mod">
          <ac:chgData name="yessasvini yessasvini" userId="230e4cad95eb1d99" providerId="LiveId" clId="{5B53E4DF-CD75-4059-9A3F-ABFF74D0EE53}" dt="2025-11-25T07:19:30.530" v="25" actId="1076"/>
          <ac:spMkLst>
            <pc:docMk/>
            <pc:sldMk cId="0" sldId="257"/>
            <ac:spMk id="63" creationId="{00000000-0000-0000-0000-000000000000}"/>
          </ac:spMkLst>
        </pc:spChg>
        <pc:spChg chg="mod">
          <ac:chgData name="yessasvini yessasvini" userId="230e4cad95eb1d99" providerId="LiveId" clId="{5B53E4DF-CD75-4059-9A3F-ABFF74D0EE53}" dt="2025-11-25T07:19:34.703" v="26" actId="1076"/>
          <ac:spMkLst>
            <pc:docMk/>
            <pc:sldMk cId="0" sldId="257"/>
            <ac:spMk id="66" creationId="{00000000-0000-0000-0000-000000000000}"/>
          </ac:spMkLst>
        </pc:spChg>
      </pc:sldChg>
      <pc:sldChg chg="modSp mod">
        <pc:chgData name="yessasvini yessasvini" userId="230e4cad95eb1d99" providerId="LiveId" clId="{5B53E4DF-CD75-4059-9A3F-ABFF74D0EE53}" dt="2025-11-25T07:22:36.412" v="56" actId="20577"/>
        <pc:sldMkLst>
          <pc:docMk/>
          <pc:sldMk cId="0" sldId="258"/>
        </pc:sldMkLst>
        <pc:spChg chg="mod">
          <ac:chgData name="yessasvini yessasvini" userId="230e4cad95eb1d99" providerId="LiveId" clId="{5B53E4DF-CD75-4059-9A3F-ABFF74D0EE53}" dt="2025-11-25T07:21:54.395" v="41" actId="1076"/>
          <ac:spMkLst>
            <pc:docMk/>
            <pc:sldMk cId="0" sldId="258"/>
            <ac:spMk id="74" creationId="{00000000-0000-0000-0000-000000000000}"/>
          </ac:spMkLst>
        </pc:spChg>
        <pc:spChg chg="mod">
          <ac:chgData name="yessasvini yessasvini" userId="230e4cad95eb1d99" providerId="LiveId" clId="{5B53E4DF-CD75-4059-9A3F-ABFF74D0EE53}" dt="2025-11-25T07:22:36.412" v="56" actId="20577"/>
          <ac:spMkLst>
            <pc:docMk/>
            <pc:sldMk cId="0" sldId="258"/>
            <ac:spMk id="75" creationId="{00000000-0000-0000-0000-000000000000}"/>
          </ac:spMkLst>
        </pc:spChg>
      </pc:sldChg>
      <pc:sldChg chg="modSp mod">
        <pc:chgData name="yessasvini yessasvini" userId="230e4cad95eb1d99" providerId="LiveId" clId="{5B53E4DF-CD75-4059-9A3F-ABFF74D0EE53}" dt="2025-11-25T07:28:11.432" v="115" actId="1076"/>
        <pc:sldMkLst>
          <pc:docMk/>
          <pc:sldMk cId="0" sldId="259"/>
        </pc:sldMkLst>
        <pc:spChg chg="mod">
          <ac:chgData name="yessasvini yessasvini" userId="230e4cad95eb1d99" providerId="LiveId" clId="{5B53E4DF-CD75-4059-9A3F-ABFF74D0EE53}" dt="2025-11-25T07:28:11.432" v="115" actId="1076"/>
          <ac:spMkLst>
            <pc:docMk/>
            <pc:sldMk cId="0" sldId="259"/>
            <ac:spMk id="85" creationId="{00000000-0000-0000-0000-000000000000}"/>
          </ac:spMkLst>
        </pc:spChg>
      </pc:sldChg>
      <pc:sldChg chg="addSp modSp mod">
        <pc:chgData name="yessasvini yessasvini" userId="230e4cad95eb1d99" providerId="LiveId" clId="{5B53E4DF-CD75-4059-9A3F-ABFF74D0EE53}" dt="2025-11-25T07:34:01.068" v="129" actId="14100"/>
        <pc:sldMkLst>
          <pc:docMk/>
          <pc:sldMk cId="0" sldId="260"/>
        </pc:sldMkLst>
        <pc:spChg chg="mod">
          <ac:chgData name="yessasvini yessasvini" userId="230e4cad95eb1d99" providerId="LiveId" clId="{5B53E4DF-CD75-4059-9A3F-ABFF74D0EE53}" dt="2025-11-25T07:33:30.698" v="125" actId="20577"/>
          <ac:spMkLst>
            <pc:docMk/>
            <pc:sldMk cId="0" sldId="260"/>
            <ac:spMk id="95" creationId="{00000000-0000-0000-0000-000000000000}"/>
          </ac:spMkLst>
        </pc:spChg>
        <pc:picChg chg="add mod">
          <ac:chgData name="yessasvini yessasvini" userId="230e4cad95eb1d99" providerId="LiveId" clId="{5B53E4DF-CD75-4059-9A3F-ABFF74D0EE53}" dt="2025-11-25T07:34:01.068" v="129" actId="14100"/>
          <ac:picMkLst>
            <pc:docMk/>
            <pc:sldMk cId="0" sldId="260"/>
            <ac:picMk id="3" creationId="{5638BAF5-087F-69A4-8C80-687240F093E9}"/>
          </ac:picMkLst>
        </pc:picChg>
      </pc:sldChg>
      <pc:sldChg chg="addSp delSp modSp mod">
        <pc:chgData name="yessasvini yessasvini" userId="230e4cad95eb1d99" providerId="LiveId" clId="{5B53E4DF-CD75-4059-9A3F-ABFF74D0EE53}" dt="2025-11-25T07:56:08.755" v="137" actId="962"/>
        <pc:sldMkLst>
          <pc:docMk/>
          <pc:sldMk cId="0" sldId="261"/>
        </pc:sldMkLst>
        <pc:spChg chg="mod">
          <ac:chgData name="yessasvini yessasvini" userId="230e4cad95eb1d99" providerId="LiveId" clId="{5B53E4DF-CD75-4059-9A3F-ABFF74D0EE53}" dt="2025-11-25T07:55:41.252" v="134" actId="20577"/>
          <ac:spMkLst>
            <pc:docMk/>
            <pc:sldMk cId="0" sldId="261"/>
            <ac:spMk id="104" creationId="{00000000-0000-0000-0000-000000000000}"/>
          </ac:spMkLst>
        </pc:spChg>
        <pc:spChg chg="del">
          <ac:chgData name="yessasvini yessasvini" userId="230e4cad95eb1d99" providerId="LiveId" clId="{5B53E4DF-CD75-4059-9A3F-ABFF74D0EE53}" dt="2025-11-25T07:55:27.991" v="130" actId="478"/>
          <ac:spMkLst>
            <pc:docMk/>
            <pc:sldMk cId="0" sldId="261"/>
            <ac:spMk id="105" creationId="{00000000-0000-0000-0000-000000000000}"/>
          </ac:spMkLst>
        </pc:spChg>
        <pc:picChg chg="add mod">
          <ac:chgData name="yessasvini yessasvini" userId="230e4cad95eb1d99" providerId="LiveId" clId="{5B53E4DF-CD75-4059-9A3F-ABFF74D0EE53}" dt="2025-11-25T07:56:08.755" v="137" actId="962"/>
          <ac:picMkLst>
            <pc:docMk/>
            <pc:sldMk cId="0" sldId="261"/>
            <ac:picMk id="3" creationId="{0741C8C9-105F-1127-A14E-0EEDACCD7F5F}"/>
          </ac:picMkLst>
        </pc:picChg>
      </pc:sldChg>
      <pc:sldChg chg="addSp modSp mod">
        <pc:chgData name="yessasvini yessasvini" userId="230e4cad95eb1d99" providerId="LiveId" clId="{5B53E4DF-CD75-4059-9A3F-ABFF74D0EE53}" dt="2025-11-25T08:00:51.660" v="148" actId="1076"/>
        <pc:sldMkLst>
          <pc:docMk/>
          <pc:sldMk cId="0" sldId="262"/>
        </pc:sldMkLst>
        <pc:spChg chg="mod">
          <ac:chgData name="yessasvini yessasvini" userId="230e4cad95eb1d99" providerId="LiveId" clId="{5B53E4DF-CD75-4059-9A3F-ABFF74D0EE53}" dt="2025-11-25T07:56:24.984" v="144" actId="20577"/>
          <ac:spMkLst>
            <pc:docMk/>
            <pc:sldMk cId="0" sldId="262"/>
            <ac:spMk id="115" creationId="{00000000-0000-0000-0000-000000000000}"/>
          </ac:spMkLst>
        </pc:spChg>
        <pc:picChg chg="add mod">
          <ac:chgData name="yessasvini yessasvini" userId="230e4cad95eb1d99" providerId="LiveId" clId="{5B53E4DF-CD75-4059-9A3F-ABFF74D0EE53}" dt="2025-11-25T08:00:51.660" v="148" actId="1076"/>
          <ac:picMkLst>
            <pc:docMk/>
            <pc:sldMk cId="0" sldId="262"/>
            <ac:picMk id="3" creationId="{8744DEFE-5109-9918-83B1-AD313253AB37}"/>
          </ac:picMkLst>
        </pc:picChg>
      </pc:sldChg>
      <pc:sldChg chg="modSp mod">
        <pc:chgData name="yessasvini yessasvini" userId="230e4cad95eb1d99" providerId="LiveId" clId="{5B53E4DF-CD75-4059-9A3F-ABFF74D0EE53}" dt="2025-11-25T08:33:29.527" v="186" actId="255"/>
        <pc:sldMkLst>
          <pc:docMk/>
          <pc:sldMk cId="0" sldId="263"/>
        </pc:sldMkLst>
        <pc:spChg chg="mod">
          <ac:chgData name="yessasvini yessasvini" userId="230e4cad95eb1d99" providerId="LiveId" clId="{5B53E4DF-CD75-4059-9A3F-ABFF74D0EE53}" dt="2025-11-25T08:33:29.527" v="186" actId="255"/>
          <ac:spMkLst>
            <pc:docMk/>
            <pc:sldMk cId="0" sldId="263"/>
            <ac:spMk id="125" creationId="{00000000-0000-0000-0000-000000000000}"/>
          </ac:spMkLst>
        </pc:spChg>
      </pc:sldChg>
      <pc:sldChg chg="addSp delSp modSp mod">
        <pc:chgData name="yessasvini yessasvini" userId="230e4cad95eb1d99" providerId="LiveId" clId="{5B53E4DF-CD75-4059-9A3F-ABFF74D0EE53}" dt="2025-11-25T08:40:53.920" v="202" actId="931"/>
        <pc:sldMkLst>
          <pc:docMk/>
          <pc:sldMk cId="0" sldId="264"/>
        </pc:sldMkLst>
        <pc:spChg chg="add del mod">
          <ac:chgData name="yessasvini yessasvini" userId="230e4cad95eb1d99" providerId="LiveId" clId="{5B53E4DF-CD75-4059-9A3F-ABFF74D0EE53}" dt="2025-11-25T08:40:39.786" v="201" actId="14100"/>
          <ac:spMkLst>
            <pc:docMk/>
            <pc:sldMk cId="0" sldId="264"/>
            <ac:spMk id="135" creationId="{00000000-0000-0000-0000-000000000000}"/>
          </ac:spMkLst>
        </pc:spChg>
        <pc:picChg chg="add mod">
          <ac:chgData name="yessasvini yessasvini" userId="230e4cad95eb1d99" providerId="LiveId" clId="{5B53E4DF-CD75-4059-9A3F-ABFF74D0EE53}" dt="2025-11-25T08:40:53.920" v="202" actId="931"/>
          <ac:picMkLst>
            <pc:docMk/>
            <pc:sldMk cId="0" sldId="264"/>
            <ac:picMk id="3" creationId="{2AAB00E0-1921-EE2F-985A-7E2A750888F4}"/>
          </ac:picMkLst>
        </pc:picChg>
      </pc:sldChg>
      <pc:sldChg chg="modSp new mod">
        <pc:chgData name="yessasvini yessasvini" userId="230e4cad95eb1d99" providerId="LiveId" clId="{5B53E4DF-CD75-4059-9A3F-ABFF74D0EE53}" dt="2025-11-25T07:25:02.421" v="82" actId="255"/>
        <pc:sldMkLst>
          <pc:docMk/>
          <pc:sldMk cId="2514420269" sldId="267"/>
        </pc:sldMkLst>
        <pc:spChg chg="mod">
          <ac:chgData name="yessasvini yessasvini" userId="230e4cad95eb1d99" providerId="LiveId" clId="{5B53E4DF-CD75-4059-9A3F-ABFF74D0EE53}" dt="2025-11-25T07:25:02.421" v="82" actId="255"/>
          <ac:spMkLst>
            <pc:docMk/>
            <pc:sldMk cId="2514420269" sldId="267"/>
            <ac:spMk id="2" creationId="{B1431B58-C1FF-EC49-6FF9-C7091FAF2F57}"/>
          </ac:spMkLst>
        </pc:spChg>
      </pc:sldChg>
      <pc:sldChg chg="modSp new mod">
        <pc:chgData name="yessasvini yessasvini" userId="230e4cad95eb1d99" providerId="LiveId" clId="{5B53E4DF-CD75-4059-9A3F-ABFF74D0EE53}" dt="2025-11-25T07:26:27.592" v="96" actId="14100"/>
        <pc:sldMkLst>
          <pc:docMk/>
          <pc:sldMk cId="2133453842" sldId="268"/>
        </pc:sldMkLst>
        <pc:spChg chg="mod">
          <ac:chgData name="yessasvini yessasvini" userId="230e4cad95eb1d99" providerId="LiveId" clId="{5B53E4DF-CD75-4059-9A3F-ABFF74D0EE53}" dt="2025-11-25T07:26:27.592" v="96" actId="14100"/>
          <ac:spMkLst>
            <pc:docMk/>
            <pc:sldMk cId="2133453842" sldId="268"/>
            <ac:spMk id="2" creationId="{78442BCE-4523-1DF6-1E27-12CC63D2F76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a077b87ac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a077b87ac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077b87ac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077b87ac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a077b87aca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a077b87aca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a077b87aca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a077b87aca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077b87aca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077b87ac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a077b87aca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a077b87aca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077b87aca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077b87aca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077b87aca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077b87aca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a077b87aca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a077b87aca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a077b87aca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a077b87ac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ES.S1.png"/>
          <p:cNvPicPr preferRelativeResize="0"/>
          <p:nvPr/>
        </p:nvPicPr>
        <p:blipFill rotWithShape="1">
          <a:blip r:embed="rId3">
            <a:alphaModFix/>
          </a:blip>
          <a:srcRect b="47073"/>
          <a:stretch/>
        </p:blipFill>
        <p:spPr>
          <a:xfrm>
            <a:off x="3575" y="0"/>
            <a:ext cx="9136850" cy="2722349"/>
          </a:xfrm>
          <a:prstGeom prst="rect">
            <a:avLst/>
          </a:prstGeom>
          <a:noFill/>
          <a:ln>
            <a:noFill/>
          </a:ln>
        </p:spPr>
      </p:pic>
      <p:pic>
        <p:nvPicPr>
          <p:cNvPr id="55" name="Google Shape;55;p13" title="ES.S1.png"/>
          <p:cNvPicPr preferRelativeResize="0"/>
          <p:nvPr/>
        </p:nvPicPr>
        <p:blipFill rotWithShape="1">
          <a:blip r:embed="rId3">
            <a:alphaModFix/>
          </a:blip>
          <a:srcRect t="98415"/>
          <a:stretch/>
        </p:blipFill>
        <p:spPr>
          <a:xfrm>
            <a:off x="3575" y="5080568"/>
            <a:ext cx="9136850" cy="81501"/>
          </a:xfrm>
          <a:prstGeom prst="rect">
            <a:avLst/>
          </a:prstGeom>
          <a:noFill/>
          <a:ln>
            <a:noFill/>
          </a:ln>
        </p:spPr>
      </p:pic>
      <p:sp>
        <p:nvSpPr>
          <p:cNvPr id="56" name="Google Shape;56;p13"/>
          <p:cNvSpPr txBox="1"/>
          <p:nvPr/>
        </p:nvSpPr>
        <p:spPr>
          <a:xfrm>
            <a:off x="192000" y="2722349"/>
            <a:ext cx="8644702" cy="235821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latin typeface="Geist"/>
                <a:ea typeface="Geist"/>
                <a:cs typeface="Geist"/>
                <a:sym typeface="Geist"/>
              </a:rPr>
              <a:t>Team Details</a:t>
            </a:r>
            <a:endParaRPr sz="1800" b="1" dirty="0">
              <a:latin typeface="Geist"/>
              <a:ea typeface="Geist"/>
              <a:cs typeface="Geist"/>
              <a:sym typeface="Geist"/>
            </a:endParaRPr>
          </a:p>
          <a:p>
            <a:pPr marL="0" lvl="0" indent="0" algn="l" rtl="0">
              <a:spcBef>
                <a:spcPts val="0"/>
              </a:spcBef>
              <a:spcAft>
                <a:spcPts val="0"/>
              </a:spcAft>
              <a:buNone/>
            </a:pPr>
            <a:endParaRPr sz="1800" b="1" dirty="0">
              <a:latin typeface="Geist"/>
              <a:ea typeface="Geist"/>
              <a:cs typeface="Geist"/>
              <a:sym typeface="Geist"/>
            </a:endParaRPr>
          </a:p>
          <a:p>
            <a:pPr marL="914400" lvl="1" indent="-342900">
              <a:buSzPts val="1800"/>
              <a:buFont typeface="Geist"/>
              <a:buAutoNum type="alphaLcPeriod"/>
            </a:pPr>
            <a:r>
              <a:rPr lang="en-GB" sz="1800" dirty="0">
                <a:latin typeface="Geist"/>
                <a:ea typeface="Geist"/>
                <a:cs typeface="Geist"/>
                <a:sym typeface="Geist"/>
              </a:rPr>
              <a:t>Team name: </a:t>
            </a:r>
            <a:r>
              <a:rPr lang="en-IN" sz="1800" dirty="0" err="1"/>
              <a:t>AgRisk</a:t>
            </a:r>
            <a:r>
              <a:rPr lang="en-IN" sz="1800" dirty="0"/>
              <a:t> Labs</a:t>
            </a:r>
            <a:endParaRPr sz="1800" dirty="0">
              <a:latin typeface="Geist"/>
              <a:ea typeface="Geist"/>
              <a:cs typeface="Geist"/>
              <a:sym typeface="Geist"/>
            </a:endParaRPr>
          </a:p>
          <a:p>
            <a:pPr marL="914400" lvl="1" indent="-342900">
              <a:buSzPts val="1800"/>
              <a:buFont typeface="Geist"/>
              <a:buAutoNum type="alphaLcPeriod"/>
            </a:pPr>
            <a:r>
              <a:rPr lang="en-GB" sz="1800" dirty="0">
                <a:latin typeface="Geist"/>
                <a:ea typeface="Geist"/>
                <a:cs typeface="Geist"/>
                <a:sym typeface="Geist"/>
              </a:rPr>
              <a:t>Team leader name: </a:t>
            </a:r>
            <a:r>
              <a:rPr lang="en-IN" sz="1800" dirty="0" err="1"/>
              <a:t>Sudarshanam</a:t>
            </a:r>
            <a:r>
              <a:rPr lang="en-IN" sz="1800" dirty="0"/>
              <a:t> Yessasvini</a:t>
            </a:r>
            <a:endParaRPr sz="1800" dirty="0">
              <a:latin typeface="Geist"/>
              <a:ea typeface="Geist"/>
              <a:cs typeface="Geist"/>
              <a:sym typeface="Geist"/>
            </a:endParaRPr>
          </a:p>
          <a:p>
            <a:pPr marL="914400" lvl="1" indent="-342900">
              <a:buSzPts val="1800"/>
              <a:buFont typeface="Geist"/>
              <a:buAutoNum type="alphaLcPeriod"/>
            </a:pPr>
            <a:r>
              <a:rPr lang="en-GB" sz="1800" dirty="0">
                <a:latin typeface="Geist"/>
                <a:ea typeface="Geist"/>
                <a:cs typeface="Geist"/>
                <a:sym typeface="Geist"/>
              </a:rPr>
              <a:t>Problem Statement:</a:t>
            </a:r>
            <a:r>
              <a:rPr lang="en-GB" sz="1800" dirty="0">
                <a:latin typeface="Times New Roman" panose="02020603050405020304" pitchFamily="18" charset="0"/>
                <a:ea typeface="Geist"/>
                <a:cs typeface="Times New Roman" panose="02020603050405020304" pitchFamily="18" charset="0"/>
                <a:sym typeface="Geist"/>
              </a:rPr>
              <a:t> </a:t>
            </a:r>
            <a:r>
              <a:rPr lang="en-US" sz="1800" dirty="0">
                <a:latin typeface="Times New Roman" panose="02020603050405020304" pitchFamily="18" charset="0"/>
                <a:cs typeface="Times New Roman" panose="02020603050405020304" pitchFamily="18" charset="0"/>
              </a:rPr>
              <a:t>Small and tenant farmers struggle to access formal credit due to lack of collateral and unpredictable crop performance, leading to high NPAs for lenders and financial distress for farmers. Traditional loan systems are static, while agriculture is dynamic — resulting in a </a:t>
            </a:r>
            <a:r>
              <a:rPr lang="en-US" sz="1800" b="1" dirty="0">
                <a:latin typeface="Times New Roman" panose="02020603050405020304" pitchFamily="18" charset="0"/>
                <a:cs typeface="Times New Roman" panose="02020603050405020304" pitchFamily="18" charset="0"/>
              </a:rPr>
              <a:t>Crop–Credit Mismatch</a:t>
            </a:r>
            <a:r>
              <a:rPr lang="en-US" sz="1800" dirty="0">
                <a:latin typeface="Times New Roman" panose="02020603050405020304" pitchFamily="18" charset="0"/>
                <a:cs typeface="Times New Roman" panose="02020603050405020304" pitchFamily="18" charset="0"/>
              </a:rPr>
              <a:t>.</a:t>
            </a:r>
          </a:p>
          <a:p>
            <a:pPr marL="914400" lvl="1" indent="-342900" algn="l" rtl="0">
              <a:spcBef>
                <a:spcPts val="0"/>
              </a:spcBef>
              <a:spcAft>
                <a:spcPts val="0"/>
              </a:spcAft>
              <a:buSzPts val="1800"/>
              <a:buFont typeface="Geist"/>
              <a:buAutoNum type="alphaLcPeriod"/>
            </a:pPr>
            <a:endParaRPr sz="1800" dirty="0">
              <a:latin typeface="Geist"/>
              <a:ea typeface="Geist"/>
              <a:cs typeface="Geist"/>
              <a:sym typeface="Geist"/>
            </a:endParaRPr>
          </a:p>
          <a:p>
            <a:pPr marL="0" lvl="0" indent="0" algn="l" rtl="0">
              <a:spcBef>
                <a:spcPts val="0"/>
              </a:spcBef>
              <a:spcAft>
                <a:spcPts val="0"/>
              </a:spcAft>
              <a:buNone/>
            </a:pPr>
            <a:endParaRPr sz="1800" b="1" dirty="0">
              <a:latin typeface="Geist"/>
              <a:ea typeface="Geist"/>
              <a:cs typeface="Geist"/>
              <a:sym typeface="Gei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1" name="Google Shape;61;p14"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62" name="Google Shape;62;p14"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sp>
        <p:nvSpPr>
          <p:cNvPr id="63" name="Google Shape;63;p14"/>
          <p:cNvSpPr txBox="1"/>
          <p:nvPr/>
        </p:nvSpPr>
        <p:spPr>
          <a:xfrm>
            <a:off x="417750" y="76288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Brief about the idea</a:t>
            </a:r>
            <a:endParaRPr sz="1600" b="1">
              <a:latin typeface="Geist"/>
              <a:ea typeface="Geist"/>
              <a:cs typeface="Geist"/>
              <a:sym typeface="Geist"/>
            </a:endParaRPr>
          </a:p>
        </p:txBody>
      </p:sp>
      <p:pic>
        <p:nvPicPr>
          <p:cNvPr id="64" name="Google Shape;64;p14"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pic>
        <p:nvPicPr>
          <p:cNvPr id="65" name="Google Shape;65;p14"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
        <p:nvSpPr>
          <p:cNvPr id="66" name="Google Shape;66;p14"/>
          <p:cNvSpPr txBox="1"/>
          <p:nvPr/>
        </p:nvSpPr>
        <p:spPr>
          <a:xfrm>
            <a:off x="417750" y="1309586"/>
            <a:ext cx="8147130" cy="1874520"/>
          </a:xfrm>
          <a:prstGeom prst="rect">
            <a:avLst/>
          </a:prstGeom>
          <a:noFill/>
          <a:ln>
            <a:noFill/>
          </a:ln>
        </p:spPr>
        <p:txBody>
          <a:bodyPr spcFirstLastPara="1" wrap="square" lIns="91425" tIns="91425" rIns="91425" bIns="91425" anchor="t" anchorCtr="0">
            <a:noAutofit/>
          </a:bodyPr>
          <a:lstStyle/>
          <a:p>
            <a:pPr lvl="0"/>
            <a:r>
              <a:rPr lang="en-US" b="1" dirty="0"/>
              <a:t>Krishi-Patra</a:t>
            </a:r>
            <a:r>
              <a:rPr lang="en-US" dirty="0"/>
              <a:t> is a </a:t>
            </a:r>
            <a:r>
              <a:rPr lang="en-US" b="1" dirty="0"/>
              <a:t>Crop Cycle Linked Dynamic Finance System</a:t>
            </a:r>
            <a:r>
              <a:rPr lang="en-US" dirty="0"/>
              <a:t> that creates a </a:t>
            </a:r>
            <a:r>
              <a:rPr lang="en-US" b="1" dirty="0"/>
              <a:t>Digital Twin of the financed crop</a:t>
            </a:r>
            <a:r>
              <a:rPr lang="en-US" dirty="0"/>
              <a:t> using satellite analytics, hyperlocal weather insights, market price feeds, and IoT data.</a:t>
            </a:r>
            <a:br>
              <a:rPr lang="en-US" dirty="0"/>
            </a:br>
            <a:r>
              <a:rPr lang="en-US" dirty="0"/>
              <a:t>Instead of giving a loan once and waiting for repayment, Krishi-Patra </a:t>
            </a:r>
            <a:r>
              <a:rPr lang="en-US" b="1" dirty="0"/>
              <a:t>continuously monitors crop viability</a:t>
            </a:r>
            <a:r>
              <a:rPr lang="en-US" dirty="0"/>
              <a:t> and </a:t>
            </a:r>
            <a:r>
              <a:rPr lang="en-US" b="1" dirty="0"/>
              <a:t>adapts financing dynamically</a:t>
            </a:r>
            <a:r>
              <a:rPr lang="en-US" dirty="0"/>
              <a:t> throughout the crop cycle.</a:t>
            </a:r>
            <a:br>
              <a:rPr lang="en-US" dirty="0"/>
            </a:br>
            <a:r>
              <a:rPr lang="en-US" dirty="0"/>
              <a:t>Loan terms, top-ups, restructuring, and insurance triggers are driven by </a:t>
            </a:r>
            <a:r>
              <a:rPr lang="en-US" b="1" dirty="0"/>
              <a:t>real-time crop health and risk signals</a:t>
            </a:r>
            <a:r>
              <a:rPr lang="en-US" dirty="0"/>
              <a:t> — reducing NPAs for banks and building financial resilience for farmers.</a:t>
            </a:r>
            <a:endParaRPr dirty="0">
              <a:latin typeface="Geist"/>
              <a:ea typeface="Geist"/>
              <a:cs typeface="Geist"/>
              <a:sym typeface="Gei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71" name="Google Shape;71;p15"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72" name="Google Shape;72;p15"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73" name="Google Shape;73;p15"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74" name="Google Shape;74;p15"/>
          <p:cNvSpPr txBox="1"/>
          <p:nvPr/>
        </p:nvSpPr>
        <p:spPr>
          <a:xfrm>
            <a:off x="100499" y="1164677"/>
            <a:ext cx="8943000" cy="281414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b="1" dirty="0">
              <a:latin typeface="Geist"/>
              <a:ea typeface="Geist"/>
              <a:cs typeface="Geist"/>
              <a:sym typeface="Geist"/>
            </a:endParaRPr>
          </a:p>
        </p:txBody>
      </p:sp>
      <p:sp>
        <p:nvSpPr>
          <p:cNvPr id="75" name="Google Shape;75;p15"/>
          <p:cNvSpPr txBox="1"/>
          <p:nvPr/>
        </p:nvSpPr>
        <p:spPr>
          <a:xfrm>
            <a:off x="441960" y="883920"/>
            <a:ext cx="8501040" cy="3339333"/>
          </a:xfrm>
          <a:prstGeom prst="rect">
            <a:avLst/>
          </a:prstGeom>
          <a:noFill/>
          <a:ln>
            <a:noFill/>
          </a:ln>
        </p:spPr>
        <p:txBody>
          <a:bodyPr spcFirstLastPara="1" wrap="square" lIns="91425" tIns="91425" rIns="91425" bIns="91425" anchor="t" anchorCtr="0">
            <a:noAutofit/>
          </a:bodyPr>
          <a:lstStyle/>
          <a:p>
            <a:r>
              <a:rPr lang="en-US" b="1" dirty="0"/>
              <a:t>Opportunities:</a:t>
            </a:r>
          </a:p>
          <a:p>
            <a:endParaRPr lang="en-US" b="1" dirty="0"/>
          </a:p>
          <a:p>
            <a:r>
              <a:rPr lang="en-US" b="1" dirty="0"/>
              <a:t>How different is it from any of the other existing ideas?</a:t>
            </a:r>
          </a:p>
          <a:p>
            <a:r>
              <a:rPr lang="en-US" dirty="0"/>
              <a:t>Most existing </a:t>
            </a:r>
            <a:r>
              <a:rPr lang="en-US" dirty="0" err="1"/>
              <a:t>agri</a:t>
            </a:r>
            <a:r>
              <a:rPr lang="en-US" dirty="0"/>
              <a:t>-credit solutions treat lending as a </a:t>
            </a:r>
            <a:r>
              <a:rPr lang="en-US" b="1" dirty="0"/>
              <a:t>one-time event</a:t>
            </a:r>
            <a:r>
              <a:rPr lang="en-US" dirty="0"/>
              <a:t> and evaluate the </a:t>
            </a:r>
            <a:r>
              <a:rPr lang="en-US" b="1" dirty="0"/>
              <a:t>farmer’s past history</a:t>
            </a:r>
            <a:r>
              <a:rPr lang="en-US" dirty="0"/>
              <a:t> rather than the </a:t>
            </a:r>
            <a:r>
              <a:rPr lang="en-US" b="1" dirty="0"/>
              <a:t>current crop’s viability</a:t>
            </a:r>
            <a:r>
              <a:rPr lang="en-US" dirty="0"/>
              <a:t>. After disbursement, there is </a:t>
            </a:r>
            <a:r>
              <a:rPr lang="en-US" b="1" dirty="0"/>
              <a:t>no risk monitoring</a:t>
            </a:r>
            <a:r>
              <a:rPr lang="en-US" dirty="0"/>
              <a:t>, </a:t>
            </a:r>
            <a:r>
              <a:rPr lang="en-US" b="1" dirty="0"/>
              <a:t>no proactive intervention</a:t>
            </a:r>
            <a:r>
              <a:rPr lang="en-US" dirty="0"/>
              <a:t>, and banks discover risk only when repayment fails — leading to NPAs.</a:t>
            </a:r>
          </a:p>
          <a:p>
            <a:r>
              <a:rPr lang="en-US" b="1" dirty="0"/>
              <a:t>Krishi-Patra flips the model:</a:t>
            </a:r>
            <a:br>
              <a:rPr lang="en-US" dirty="0"/>
            </a:br>
            <a:r>
              <a:rPr lang="en-US" dirty="0"/>
              <a:t>Instead of judging the farmer, it evaluates and tracks the </a:t>
            </a:r>
            <a:r>
              <a:rPr lang="en-US" b="1" dirty="0"/>
              <a:t>real-time health of the financed crop</a:t>
            </a:r>
            <a:r>
              <a:rPr lang="en-US" dirty="0"/>
              <a:t> using satellite imaging, weather data, soil moisture, price trends and IoT inputs.</a:t>
            </a:r>
            <a:br>
              <a:rPr lang="en-US" dirty="0"/>
            </a:br>
            <a:r>
              <a:rPr lang="en-US" dirty="0"/>
              <a:t>Loan scoring becomes </a:t>
            </a:r>
            <a:r>
              <a:rPr lang="en-US" b="1" dirty="0"/>
              <a:t>dynamic</a:t>
            </a:r>
            <a:r>
              <a:rPr lang="en-US" dirty="0"/>
              <a:t>, not static. Credit terms evolve automatically based on live crop risk signals.</a:t>
            </a:r>
          </a:p>
          <a:p>
            <a:r>
              <a:rPr lang="en-US" dirty="0"/>
              <a:t>This is fundamentally different from scoring APIs or loan management apps — Krishi-Patra is a </a:t>
            </a:r>
            <a:r>
              <a:rPr lang="en-US" b="1" dirty="0"/>
              <a:t>continuous </a:t>
            </a:r>
            <a:r>
              <a:rPr lang="en-US" b="1" dirty="0" err="1"/>
              <a:t>agri</a:t>
            </a:r>
            <a:r>
              <a:rPr lang="en-US" b="1" dirty="0"/>
              <a:t>-risk intelligence platform that manages the entire crop-credit lifecycle</a:t>
            </a:r>
            <a:r>
              <a:rPr lang="en-US" dirty="0"/>
              <a:t>.</a:t>
            </a:r>
          </a:p>
        </p:txBody>
      </p:sp>
      <p:pic>
        <p:nvPicPr>
          <p:cNvPr id="76" name="Google Shape;76;p15"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31B58-C1FF-EC49-6FF9-C7091FAF2F57}"/>
              </a:ext>
            </a:extLst>
          </p:cNvPr>
          <p:cNvSpPr>
            <a:spLocks noGrp="1"/>
          </p:cNvSpPr>
          <p:nvPr>
            <p:ph type="title"/>
          </p:nvPr>
        </p:nvSpPr>
        <p:spPr>
          <a:xfrm>
            <a:off x="311700" y="266700"/>
            <a:ext cx="8520600" cy="3947160"/>
          </a:xfrm>
        </p:spPr>
        <p:txBody>
          <a:bodyPr>
            <a:normAutofit/>
          </a:bodyPr>
          <a:lstStyle/>
          <a:p>
            <a:pPr algn="l"/>
            <a:r>
              <a:rPr lang="en-US" sz="1200" b="1" dirty="0"/>
              <a:t>🔹 </a:t>
            </a:r>
            <a:r>
              <a:rPr lang="en-US" sz="1400" b="1" dirty="0">
                <a:latin typeface="Times New Roman" panose="02020603050405020304" pitchFamily="18" charset="0"/>
                <a:cs typeface="Times New Roman" panose="02020603050405020304" pitchFamily="18" charset="0"/>
              </a:rPr>
              <a:t>How will it be able to solve the problem?</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    </a:t>
            </a: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Krishi-Patra directly addresses the </a:t>
            </a:r>
            <a:r>
              <a:rPr lang="en-US" sz="1400" b="1" dirty="0">
                <a:latin typeface="Times New Roman" panose="02020603050405020304" pitchFamily="18" charset="0"/>
                <a:cs typeface="Times New Roman" panose="02020603050405020304" pitchFamily="18" charset="0"/>
              </a:rPr>
              <a:t>Crop–Credit Mismatch</a:t>
            </a:r>
            <a:r>
              <a:rPr lang="en-US" sz="1400" dirty="0">
                <a:latin typeface="Times New Roman" panose="02020603050405020304" pitchFamily="18" charset="0"/>
                <a:cs typeface="Times New Roman" panose="02020603050405020304" pitchFamily="18" charset="0"/>
              </a:rPr>
              <a:t> through:</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Predictive risk detection</a:t>
            </a:r>
            <a:r>
              <a:rPr lang="en-US" sz="1400" dirty="0">
                <a:latin typeface="Times New Roman" panose="02020603050405020304" pitchFamily="18" charset="0"/>
                <a:cs typeface="Times New Roman" panose="02020603050405020304" pitchFamily="18" charset="0"/>
              </a:rPr>
              <a:t> — AI models anticipate crop stress weeks before failure</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Proactive interventions</a:t>
            </a:r>
            <a:r>
              <a:rPr lang="en-US" sz="1400" dirty="0">
                <a:latin typeface="Times New Roman" panose="02020603050405020304" pitchFamily="18" charset="0"/>
                <a:cs typeface="Times New Roman" panose="02020603050405020304" pitchFamily="18" charset="0"/>
              </a:rPr>
              <a:t> — top-ups, restructuring and advisories to prevent distress</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Automated insurance activation</a:t>
            </a:r>
            <a:r>
              <a:rPr lang="en-US" sz="1400" dirty="0">
                <a:latin typeface="Times New Roman" panose="02020603050405020304" pitchFamily="18" charset="0"/>
                <a:cs typeface="Times New Roman" panose="02020603050405020304" pitchFamily="18" charset="0"/>
              </a:rPr>
              <a:t> — catastrophic events trigger claim workflows without manual paperwork</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Transparent data sharing on blockchain</a:t>
            </a:r>
            <a:r>
              <a:rPr lang="en-US" sz="1400" dirty="0">
                <a:latin typeface="Times New Roman" panose="02020603050405020304" pitchFamily="18" charset="0"/>
                <a:cs typeface="Times New Roman" panose="02020603050405020304" pitchFamily="18" charset="0"/>
              </a:rPr>
              <a:t> — removing disputes between farmers, bankers and insurers</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Portfolio-level risk intelligence</a:t>
            </a:r>
            <a:r>
              <a:rPr lang="en-US" sz="1400" dirty="0">
                <a:latin typeface="Times New Roman" panose="02020603050405020304" pitchFamily="18" charset="0"/>
                <a:cs typeface="Times New Roman" panose="02020603050405020304" pitchFamily="18" charset="0"/>
              </a:rPr>
              <a:t> — early warning system for banks to reduce NPAs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ensures </a:t>
            </a:r>
            <a:r>
              <a:rPr lang="en-US" sz="1400" b="1" dirty="0">
                <a:latin typeface="Times New Roman" panose="02020603050405020304" pitchFamily="18" charset="0"/>
                <a:cs typeface="Times New Roman" panose="02020603050405020304" pitchFamily="18" charset="0"/>
              </a:rPr>
              <a:t>financial resilience for farmers</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risk-controlled profitability for lenders</a:t>
            </a:r>
            <a:r>
              <a:rPr lang="en-US" sz="1400" dirty="0">
                <a:latin typeface="Times New Roman" panose="02020603050405020304" pitchFamily="18" charset="0"/>
                <a:cs typeface="Times New Roman" panose="02020603050405020304" pitchFamily="18" charset="0"/>
              </a:rPr>
              <a:t>, enabling wider and safer credit access for smallholders.</a:t>
            </a:r>
            <a:br>
              <a:rPr lang="en-US" sz="1200" dirty="0"/>
            </a:br>
            <a:endParaRPr lang="en-IN" sz="1200" dirty="0"/>
          </a:p>
        </p:txBody>
      </p:sp>
    </p:spTree>
    <p:extLst>
      <p:ext uri="{BB962C8B-B14F-4D97-AF65-F5344CB8AC3E}">
        <p14:creationId xmlns:p14="http://schemas.microsoft.com/office/powerpoint/2010/main" val="2514420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42BCE-4523-1DF6-1E27-12CC63D2F766}"/>
              </a:ext>
            </a:extLst>
          </p:cNvPr>
          <p:cNvSpPr>
            <a:spLocks noGrp="1"/>
          </p:cNvSpPr>
          <p:nvPr>
            <p:ph type="title"/>
          </p:nvPr>
        </p:nvSpPr>
        <p:spPr>
          <a:xfrm>
            <a:off x="311700" y="525780"/>
            <a:ext cx="8520600" cy="3779520"/>
          </a:xfrm>
        </p:spPr>
        <p:txBody>
          <a:bodyPr>
            <a:normAutofit/>
          </a:bodyPr>
          <a:lstStyle/>
          <a:p>
            <a:pPr algn="l"/>
            <a:r>
              <a:rPr lang="en-US" sz="1400" b="1" dirty="0">
                <a:latin typeface="Times New Roman" panose="02020603050405020304" pitchFamily="18" charset="0"/>
                <a:cs typeface="Times New Roman" panose="02020603050405020304" pitchFamily="18" charset="0"/>
              </a:rPr>
              <a:t>🔹 USP of the proposed solution</a:t>
            </a: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Crop Viability Score (CVS):</a:t>
            </a:r>
            <a:r>
              <a:rPr lang="en-US" sz="1400" dirty="0">
                <a:latin typeface="Times New Roman" panose="02020603050405020304" pitchFamily="18" charset="0"/>
                <a:cs typeface="Times New Roman" panose="02020603050405020304" pitchFamily="18" charset="0"/>
              </a:rPr>
              <a:t> The core metric predicts crop success probability and links it directly to credit decisions, interest rates, and repayment schedules — a first of its kind in </a:t>
            </a:r>
            <a:r>
              <a:rPr lang="en-US" sz="1400" dirty="0" err="1">
                <a:latin typeface="Times New Roman" panose="02020603050405020304" pitchFamily="18" charset="0"/>
                <a:cs typeface="Times New Roman" panose="02020603050405020304" pitchFamily="18" charset="0"/>
              </a:rPr>
              <a:t>agri</a:t>
            </a:r>
            <a:r>
              <a:rPr lang="en-US" sz="1400" dirty="0">
                <a:latin typeface="Times New Roman" panose="02020603050405020304" pitchFamily="18" charset="0"/>
                <a:cs typeface="Times New Roman" panose="02020603050405020304" pitchFamily="18" charset="0"/>
              </a:rPr>
              <a:t>-finance.</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Digital Twin of the Crop:</a:t>
            </a:r>
            <a:r>
              <a:rPr lang="en-US" sz="1400" dirty="0">
                <a:latin typeface="Times New Roman" panose="02020603050405020304" pitchFamily="18" charset="0"/>
                <a:cs typeface="Times New Roman" panose="02020603050405020304" pitchFamily="18" charset="0"/>
              </a:rPr>
              <a:t> A virtual replica of every financed crop enables continuous monitoring and event-based financial actions.</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Crop-Cycle Smart Contracts:</a:t>
            </a:r>
            <a:r>
              <a:rPr lang="en-US" sz="1400" dirty="0">
                <a:latin typeface="Times New Roman" panose="02020603050405020304" pitchFamily="18" charset="0"/>
                <a:cs typeface="Times New Roman" panose="02020603050405020304" pitchFamily="18" charset="0"/>
              </a:rPr>
              <a:t> Loan disbursements, restructuring, and insurance payouts are governed partly by oracle data (satellite + weather), reducing human delay, fraud and bias.</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Regulatory-Sandbox Ready:</a:t>
            </a:r>
            <a:r>
              <a:rPr lang="en-US" sz="1400" dirty="0">
                <a:latin typeface="Times New Roman" panose="02020603050405020304" pitchFamily="18" charset="0"/>
                <a:cs typeface="Times New Roman" panose="02020603050405020304" pitchFamily="18" charset="0"/>
              </a:rPr>
              <a:t> Natively aligned with Agri-Stack, RBI </a:t>
            </a:r>
            <a:r>
              <a:rPr lang="en-US" sz="1400" dirty="0" err="1">
                <a:latin typeface="Times New Roman" panose="02020603050405020304" pitchFamily="18" charset="0"/>
                <a:cs typeface="Times New Roman" panose="02020603050405020304" pitchFamily="18" charset="0"/>
              </a:rPr>
              <a:t>HaR</a:t>
            </a:r>
            <a:r>
              <a:rPr lang="en-US" sz="1400" dirty="0">
                <a:latin typeface="Times New Roman" panose="02020603050405020304" pitchFamily="18" charset="0"/>
                <a:cs typeface="Times New Roman" panose="02020603050405020304" pitchFamily="18" charset="0"/>
              </a:rPr>
              <a:t> (Harvest-and-Repayment framework), PSL requirements, and NABARD’s rural credit expansion mission.</a:t>
            </a:r>
            <a:br>
              <a:rPr lang="en-US" sz="1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Krishi-Patra doesn’t just approve a loan — it protects the crop until harvest.</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is what makes it </a:t>
            </a:r>
            <a:r>
              <a:rPr lang="en-US" sz="1400" b="1" dirty="0">
                <a:latin typeface="Times New Roman" panose="02020603050405020304" pitchFamily="18" charset="0"/>
                <a:cs typeface="Times New Roman" panose="02020603050405020304" pitchFamily="18" charset="0"/>
              </a:rPr>
              <a:t>high-impact, scalable, and financially transformative</a:t>
            </a:r>
            <a:r>
              <a:rPr lang="en-US" sz="1400" dirty="0">
                <a:latin typeface="Times New Roman" panose="02020603050405020304" pitchFamily="18" charset="0"/>
                <a:cs typeface="Times New Roman" panose="02020603050405020304" pitchFamily="18" charset="0"/>
              </a:rPr>
              <a:t> for the agricultural lending ecosystem.</a:t>
            </a:r>
            <a:br>
              <a:rPr lang="en-US"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3453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6"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82" name="Google Shape;82;p16"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83" name="Google Shape;83;p16"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84" name="Google Shape;84;p16"/>
          <p:cNvSpPr txBox="1"/>
          <p:nvPr/>
        </p:nvSpPr>
        <p:spPr>
          <a:xfrm>
            <a:off x="417750" y="7400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List of features offered by the solution</a:t>
            </a:r>
            <a:endParaRPr sz="1600" b="1">
              <a:latin typeface="Geist"/>
              <a:ea typeface="Geist"/>
              <a:cs typeface="Geist"/>
              <a:sym typeface="Geist"/>
            </a:endParaRPr>
          </a:p>
        </p:txBody>
      </p:sp>
      <p:sp>
        <p:nvSpPr>
          <p:cNvPr id="85" name="Google Shape;85;p16"/>
          <p:cNvSpPr txBox="1"/>
          <p:nvPr/>
        </p:nvSpPr>
        <p:spPr>
          <a:xfrm>
            <a:off x="364410" y="1232460"/>
            <a:ext cx="8415180" cy="3171015"/>
          </a:xfrm>
          <a:prstGeom prst="rect">
            <a:avLst/>
          </a:prstGeom>
          <a:noFill/>
          <a:ln>
            <a:noFill/>
          </a:ln>
        </p:spPr>
        <p:txBody>
          <a:bodyPr spcFirstLastPara="1" wrap="square" lIns="91425" tIns="91425" rIns="91425" bIns="91425" anchor="t" anchorCtr="0">
            <a:noAutofit/>
          </a:bodyPr>
          <a:lstStyle/>
          <a:p>
            <a:r>
              <a:rPr lang="en-US" sz="1800" b="1" dirty="0"/>
              <a:t>List of Features Offered</a:t>
            </a:r>
          </a:p>
          <a:p>
            <a:pPr marL="285750" indent="-285750">
              <a:buFont typeface="Arial" panose="020B0604020202020204" pitchFamily="34" charset="0"/>
              <a:buChar char="•"/>
            </a:pPr>
            <a:r>
              <a:rPr lang="en-US" sz="1800" dirty="0"/>
              <a:t>Digital Plot Productivity Assessment using historical satellite data</a:t>
            </a:r>
          </a:p>
          <a:p>
            <a:pPr marL="285750" indent="-285750">
              <a:buFont typeface="Arial" panose="020B0604020202020204" pitchFamily="34" charset="0"/>
              <a:buChar char="•"/>
            </a:pPr>
            <a:r>
              <a:rPr lang="en-US" sz="1800" dirty="0"/>
              <a:t>Dynamic Credit-Risk Scoring linked to crop cycle</a:t>
            </a:r>
          </a:p>
          <a:p>
            <a:pPr marL="285750" indent="-285750">
              <a:buFont typeface="Arial" panose="020B0604020202020204" pitchFamily="34" charset="0"/>
              <a:buChar char="•"/>
            </a:pPr>
            <a:r>
              <a:rPr lang="en-US" sz="1800" dirty="0"/>
              <a:t>Stage-linked progressive disbursement (sowing, vegetative, flowering, harvest)</a:t>
            </a:r>
          </a:p>
          <a:p>
            <a:pPr marL="285750" indent="-285750">
              <a:buFont typeface="Arial" panose="020B0604020202020204" pitchFamily="34" charset="0"/>
              <a:buChar char="•"/>
            </a:pPr>
            <a:r>
              <a:rPr lang="en-US" sz="1800" dirty="0"/>
              <a:t>Top-up &amp; restructuring options triggered automatically based on risk indicators</a:t>
            </a:r>
          </a:p>
          <a:p>
            <a:pPr marL="285750" indent="-285750">
              <a:buFont typeface="Arial" panose="020B0604020202020204" pitchFamily="34" charset="0"/>
              <a:buChar char="•"/>
            </a:pPr>
            <a:r>
              <a:rPr lang="en-US" sz="1800" dirty="0"/>
              <a:t>Automated insurance settlement — no manual filing by farmers</a:t>
            </a:r>
          </a:p>
          <a:p>
            <a:pPr marL="285750" indent="-285750">
              <a:buFont typeface="Arial" panose="020B0604020202020204" pitchFamily="34" charset="0"/>
              <a:buChar char="•"/>
            </a:pPr>
            <a:r>
              <a:rPr lang="en-US" sz="1800" dirty="0"/>
              <a:t>Portfolio Health Map for lenders predicting NPAs months in advance</a:t>
            </a:r>
          </a:p>
          <a:p>
            <a:pPr marL="285750" indent="-285750">
              <a:buFont typeface="Arial" panose="020B0604020202020204" pitchFamily="34" charset="0"/>
              <a:buChar char="•"/>
            </a:pPr>
            <a:r>
              <a:rPr lang="en-US" sz="1800" dirty="0"/>
              <a:t>Farmer-friendly USSD/IVR interface with green/yellow/red crop status signaling</a:t>
            </a:r>
          </a:p>
          <a:p>
            <a:pPr marL="0" lvl="0" indent="0" algn="l" rtl="0">
              <a:spcBef>
                <a:spcPts val="0"/>
              </a:spcBef>
              <a:spcAft>
                <a:spcPts val="0"/>
              </a:spcAft>
              <a:buNone/>
            </a:pPr>
            <a:endParaRPr dirty="0">
              <a:latin typeface="Geist"/>
              <a:ea typeface="Geist"/>
              <a:cs typeface="Geist"/>
              <a:sym typeface="Geist"/>
            </a:endParaRPr>
          </a:p>
        </p:txBody>
      </p:sp>
      <p:pic>
        <p:nvPicPr>
          <p:cNvPr id="86" name="Google Shape;86;p16"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92" name="Google Shape;92;p17"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93" name="Google Shape;93;p17"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94" name="Google Shape;94;p17"/>
          <p:cNvSpPr txBox="1"/>
          <p:nvPr/>
        </p:nvSpPr>
        <p:spPr>
          <a:xfrm>
            <a:off x="417750" y="7400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Process flow diagram or Use-case diagram</a:t>
            </a:r>
            <a:endParaRPr sz="1600" b="1">
              <a:latin typeface="Geist"/>
              <a:ea typeface="Geist"/>
              <a:cs typeface="Geist"/>
              <a:sym typeface="Geist"/>
            </a:endParaRPr>
          </a:p>
        </p:txBody>
      </p:sp>
      <p:sp>
        <p:nvSpPr>
          <p:cNvPr id="95" name="Google Shape;95;p17"/>
          <p:cNvSpPr txBox="1"/>
          <p:nvPr/>
        </p:nvSpPr>
        <p:spPr>
          <a:xfrm>
            <a:off x="417750" y="11831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Geist"/>
              <a:ea typeface="Geist"/>
              <a:cs typeface="Geist"/>
              <a:sym typeface="Geist"/>
            </a:endParaRPr>
          </a:p>
        </p:txBody>
      </p:sp>
      <p:pic>
        <p:nvPicPr>
          <p:cNvPr id="96" name="Google Shape;96;p17"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descr="A diagram of a flowchart&#10;&#10;AI-generated content may be incorrect.">
            <a:extLst>
              <a:ext uri="{FF2B5EF4-FFF2-40B4-BE49-F238E27FC236}">
                <a16:creationId xmlns:a16="http://schemas.microsoft.com/office/drawing/2014/main" id="{5638BAF5-087F-69A4-8C80-687240F093E9}"/>
              </a:ext>
            </a:extLst>
          </p:cNvPr>
          <p:cNvPicPr>
            <a:picLocks noChangeAspect="1"/>
          </p:cNvPicPr>
          <p:nvPr/>
        </p:nvPicPr>
        <p:blipFill>
          <a:blip r:embed="rId4"/>
          <a:stretch>
            <a:fillRect/>
          </a:stretch>
        </p:blipFill>
        <p:spPr>
          <a:xfrm>
            <a:off x="209550" y="1371599"/>
            <a:ext cx="8934450" cy="24579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8"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02" name="Google Shape;102;p18"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03" name="Google Shape;103;p18"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04" name="Google Shape;104;p18"/>
          <p:cNvSpPr txBox="1"/>
          <p:nvPr/>
        </p:nvSpPr>
        <p:spPr>
          <a:xfrm>
            <a:off x="417750" y="883920"/>
            <a:ext cx="8291910" cy="308609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dirty="0">
                <a:latin typeface="Geist"/>
                <a:ea typeface="Geist"/>
                <a:cs typeface="Geist"/>
                <a:sym typeface="Geist"/>
              </a:rPr>
              <a:t>Wireframes/Mock diagrams of the proposed solution (optional)</a:t>
            </a:r>
          </a:p>
          <a:p>
            <a:pPr marL="0" lvl="0" indent="0" algn="l" rtl="0">
              <a:spcBef>
                <a:spcPts val="0"/>
              </a:spcBef>
              <a:spcAft>
                <a:spcPts val="0"/>
              </a:spcAft>
              <a:buNone/>
            </a:pPr>
            <a:endParaRPr lang="en-GB" sz="1600" b="1" dirty="0">
              <a:latin typeface="Geist"/>
              <a:ea typeface="Geist"/>
              <a:cs typeface="Geist"/>
              <a:sym typeface="Geist"/>
            </a:endParaRPr>
          </a:p>
          <a:p>
            <a:pPr marL="0" lvl="0" indent="0" algn="l" rtl="0">
              <a:spcBef>
                <a:spcPts val="0"/>
              </a:spcBef>
              <a:spcAft>
                <a:spcPts val="0"/>
              </a:spcAft>
              <a:buNone/>
            </a:pPr>
            <a:endParaRPr sz="1600" b="1" dirty="0">
              <a:latin typeface="Geist"/>
              <a:ea typeface="Geist"/>
              <a:cs typeface="Geist"/>
              <a:sym typeface="Geist"/>
            </a:endParaRPr>
          </a:p>
        </p:txBody>
      </p:sp>
      <p:pic>
        <p:nvPicPr>
          <p:cNvPr id="106" name="Google Shape;106;p18"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descr="A diagram of a graph&#10;&#10;AI-generated content may be incorrect.">
            <a:extLst>
              <a:ext uri="{FF2B5EF4-FFF2-40B4-BE49-F238E27FC236}">
                <a16:creationId xmlns:a16="http://schemas.microsoft.com/office/drawing/2014/main" id="{0741C8C9-105F-1127-A14E-0EEDACCD7F5F}"/>
              </a:ext>
            </a:extLst>
          </p:cNvPr>
          <p:cNvPicPr>
            <a:picLocks noChangeAspect="1"/>
          </p:cNvPicPr>
          <p:nvPr/>
        </p:nvPicPr>
        <p:blipFill>
          <a:blip r:embed="rId4"/>
          <a:stretch>
            <a:fillRect/>
          </a:stretch>
        </p:blipFill>
        <p:spPr>
          <a:xfrm>
            <a:off x="0" y="1452484"/>
            <a:ext cx="9144000" cy="22385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19"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12" name="Google Shape;112;p19"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13" name="Google Shape;113;p19"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14" name="Google Shape;114;p19"/>
          <p:cNvSpPr txBox="1"/>
          <p:nvPr/>
        </p:nvSpPr>
        <p:spPr>
          <a:xfrm>
            <a:off x="417750" y="7400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Architecture diagram of the proposed solution</a:t>
            </a:r>
            <a:endParaRPr sz="1600" b="1">
              <a:latin typeface="Geist"/>
              <a:ea typeface="Geist"/>
              <a:cs typeface="Geist"/>
              <a:sym typeface="Geist"/>
            </a:endParaRPr>
          </a:p>
        </p:txBody>
      </p:sp>
      <p:sp>
        <p:nvSpPr>
          <p:cNvPr id="115" name="Google Shape;115;p19"/>
          <p:cNvSpPr txBox="1"/>
          <p:nvPr/>
        </p:nvSpPr>
        <p:spPr>
          <a:xfrm>
            <a:off x="417750" y="11831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Geist"/>
              <a:ea typeface="Geist"/>
              <a:cs typeface="Geist"/>
              <a:sym typeface="Geist"/>
            </a:endParaRPr>
          </a:p>
        </p:txBody>
      </p:sp>
      <p:pic>
        <p:nvPicPr>
          <p:cNvPr id="116" name="Google Shape;116;p19"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descr="A diagram with black text&#10;&#10;AI-generated content may be incorrect.">
            <a:extLst>
              <a:ext uri="{FF2B5EF4-FFF2-40B4-BE49-F238E27FC236}">
                <a16:creationId xmlns:a16="http://schemas.microsoft.com/office/drawing/2014/main" id="{8744DEFE-5109-9918-83B1-AD313253AB37}"/>
              </a:ext>
            </a:extLst>
          </p:cNvPr>
          <p:cNvPicPr>
            <a:picLocks noChangeAspect="1"/>
          </p:cNvPicPr>
          <p:nvPr/>
        </p:nvPicPr>
        <p:blipFill>
          <a:blip r:embed="rId4"/>
          <a:stretch>
            <a:fillRect/>
          </a:stretch>
        </p:blipFill>
        <p:spPr>
          <a:xfrm>
            <a:off x="0" y="1215624"/>
            <a:ext cx="9144000" cy="2697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0"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22" name="Google Shape;122;p20"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23" name="Google Shape;123;p20"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24" name="Google Shape;124;p20"/>
          <p:cNvSpPr txBox="1"/>
          <p:nvPr/>
        </p:nvSpPr>
        <p:spPr>
          <a:xfrm>
            <a:off x="417750" y="7400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Technologies to be used in the solution</a:t>
            </a:r>
            <a:endParaRPr sz="1600" b="1">
              <a:latin typeface="Geist"/>
              <a:ea typeface="Geist"/>
              <a:cs typeface="Geist"/>
              <a:sym typeface="Geist"/>
            </a:endParaRPr>
          </a:p>
        </p:txBody>
      </p:sp>
      <p:sp>
        <p:nvSpPr>
          <p:cNvPr id="125" name="Google Shape;125;p20"/>
          <p:cNvSpPr txBox="1"/>
          <p:nvPr/>
        </p:nvSpPr>
        <p:spPr>
          <a:xfrm>
            <a:off x="417750" y="1183124"/>
            <a:ext cx="8943000" cy="2108715"/>
          </a:xfrm>
          <a:prstGeom prst="rect">
            <a:avLst/>
          </a:prstGeom>
          <a:noFill/>
          <a:ln>
            <a:noFill/>
          </a:ln>
        </p:spPr>
        <p:txBody>
          <a:bodyPr spcFirstLastPara="1" wrap="square" lIns="91425" tIns="91425" rIns="91425" bIns="91425" anchor="t" anchorCtr="0">
            <a:noAutofit/>
          </a:bodyPr>
          <a:lstStyle/>
          <a:p>
            <a:r>
              <a:rPr lang="en-IN" sz="1800" b="1" dirty="0">
                <a:latin typeface="Times New Roman" panose="02020603050405020304" pitchFamily="18" charset="0"/>
                <a:cs typeface="Times New Roman" panose="02020603050405020304" pitchFamily="18" charset="0"/>
              </a:rPr>
              <a:t>AI/ML:</a:t>
            </a:r>
            <a:r>
              <a:rPr lang="en-IN" sz="1800" dirty="0">
                <a:latin typeface="Times New Roman" panose="02020603050405020304" pitchFamily="18" charset="0"/>
                <a:cs typeface="Times New Roman" panose="02020603050405020304" pitchFamily="18" charset="0"/>
              </a:rPr>
              <a:t> TensorFlow, Google Earth Engine API, </a:t>
            </a:r>
            <a:r>
              <a:rPr lang="en-IN" sz="1800" dirty="0" err="1">
                <a:latin typeface="Times New Roman" panose="02020603050405020304" pitchFamily="18" charset="0"/>
                <a:cs typeface="Times New Roman" panose="02020603050405020304" pitchFamily="18" charset="0"/>
              </a:rPr>
              <a:t>XGBoost</a:t>
            </a:r>
            <a:r>
              <a:rPr lang="en-IN" sz="1800" dirty="0">
                <a:latin typeface="Times New Roman" panose="02020603050405020304" pitchFamily="18" charset="0"/>
                <a:cs typeface="Times New Roman" panose="02020603050405020304" pitchFamily="18" charset="0"/>
              </a:rPr>
              <a:t>, Ray </a:t>
            </a:r>
            <a:r>
              <a:rPr lang="en-IN" sz="1800" dirty="0" err="1">
                <a:latin typeface="Times New Roman" panose="02020603050405020304" pitchFamily="18" charset="0"/>
                <a:cs typeface="Times New Roman" panose="02020603050405020304" pitchFamily="18" charset="0"/>
              </a:rPr>
              <a:t>RLlib</a:t>
            </a:r>
            <a:r>
              <a:rPr lang="en-IN" sz="1800" dirty="0">
                <a:latin typeface="Times New Roman" panose="02020603050405020304" pitchFamily="18" charset="0"/>
                <a:cs typeface="Times New Roman" panose="02020603050405020304" pitchFamily="18" charset="0"/>
              </a:rPr>
              <a:t>, SHAP</a:t>
            </a:r>
          </a:p>
          <a:p>
            <a:r>
              <a:rPr lang="en-IN" sz="1800" b="1" dirty="0">
                <a:latin typeface="Times New Roman" panose="02020603050405020304" pitchFamily="18" charset="0"/>
                <a:cs typeface="Times New Roman" panose="02020603050405020304" pitchFamily="18" charset="0"/>
              </a:rPr>
              <a:t>Backend:</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FastAPI</a:t>
            </a:r>
            <a:r>
              <a:rPr lang="en-IN" sz="1800" dirty="0">
                <a:latin typeface="Times New Roman" panose="02020603050405020304" pitchFamily="18" charset="0"/>
                <a:cs typeface="Times New Roman" panose="02020603050405020304" pitchFamily="18" charset="0"/>
              </a:rPr>
              <a:t>, Apache Kafka, Celery</a:t>
            </a:r>
          </a:p>
          <a:p>
            <a:r>
              <a:rPr lang="en-IN" sz="1800" b="1" dirty="0">
                <a:latin typeface="Times New Roman" panose="02020603050405020304" pitchFamily="18" charset="0"/>
                <a:cs typeface="Times New Roman" panose="02020603050405020304" pitchFamily="18" charset="0"/>
              </a:rPr>
              <a:t>Database:</a:t>
            </a:r>
            <a:r>
              <a:rPr lang="en-IN" sz="1800" dirty="0">
                <a:latin typeface="Times New Roman" panose="02020603050405020304" pitchFamily="18" charset="0"/>
                <a:cs typeface="Times New Roman" panose="02020603050405020304" pitchFamily="18" charset="0"/>
              </a:rPr>
              <a:t> PostgreSQL, </a:t>
            </a:r>
            <a:r>
              <a:rPr lang="en-IN" sz="1800" dirty="0" err="1">
                <a:latin typeface="Times New Roman" panose="02020603050405020304" pitchFamily="18" charset="0"/>
                <a:cs typeface="Times New Roman" panose="02020603050405020304" pitchFamily="18" charset="0"/>
              </a:rPr>
              <a:t>TimescaleDB</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Blockchain:</a:t>
            </a:r>
            <a:r>
              <a:rPr lang="en-IN" sz="1800" dirty="0">
                <a:latin typeface="Times New Roman" panose="02020603050405020304" pitchFamily="18" charset="0"/>
                <a:cs typeface="Times New Roman" panose="02020603050405020304" pitchFamily="18" charset="0"/>
              </a:rPr>
              <a:t> Hyperledger Fabric</a:t>
            </a:r>
          </a:p>
          <a:p>
            <a:r>
              <a:rPr lang="en-IN" sz="1800" b="1" dirty="0">
                <a:latin typeface="Times New Roman" panose="02020603050405020304" pitchFamily="18" charset="0"/>
                <a:cs typeface="Times New Roman" panose="02020603050405020304" pitchFamily="18" charset="0"/>
              </a:rPr>
              <a:t>Frontend:</a:t>
            </a:r>
            <a:r>
              <a:rPr lang="en-IN" sz="1800" dirty="0">
                <a:latin typeface="Times New Roman" panose="02020603050405020304" pitchFamily="18" charset="0"/>
                <a:cs typeface="Times New Roman" panose="02020603050405020304" pitchFamily="18" charset="0"/>
              </a:rPr>
              <a:t> React.js + USSD/IVR integration</a:t>
            </a:r>
          </a:p>
          <a:p>
            <a:r>
              <a:rPr lang="en-IN" sz="1800" b="1" dirty="0">
                <a:latin typeface="Times New Roman" panose="02020603050405020304" pitchFamily="18" charset="0"/>
                <a:cs typeface="Times New Roman" panose="02020603050405020304" pitchFamily="18" charset="0"/>
              </a:rPr>
              <a:t>Cloud:</a:t>
            </a:r>
            <a:r>
              <a:rPr lang="en-IN" sz="1800" dirty="0">
                <a:latin typeface="Times New Roman" panose="02020603050405020304" pitchFamily="18" charset="0"/>
                <a:cs typeface="Times New Roman" panose="02020603050405020304" pitchFamily="18" charset="0"/>
              </a:rPr>
              <a:t> AWS / GCP</a:t>
            </a:r>
          </a:p>
          <a:p>
            <a:pPr marL="0" lvl="0" indent="0" algn="l" rtl="0">
              <a:spcBef>
                <a:spcPts val="0"/>
              </a:spcBef>
              <a:spcAft>
                <a:spcPts val="0"/>
              </a:spcAft>
              <a:buNone/>
            </a:pPr>
            <a:endParaRPr dirty="0">
              <a:latin typeface="Geist"/>
              <a:ea typeface="Geist"/>
              <a:cs typeface="Geist"/>
              <a:sym typeface="Geist"/>
            </a:endParaRPr>
          </a:p>
        </p:txBody>
      </p:sp>
      <p:pic>
        <p:nvPicPr>
          <p:cNvPr id="126" name="Google Shape;126;p20"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1"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32" name="Google Shape;132;p21"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33" name="Google Shape;133;p21"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34" name="Google Shape;134;p21"/>
          <p:cNvSpPr txBox="1"/>
          <p:nvPr/>
        </p:nvSpPr>
        <p:spPr>
          <a:xfrm>
            <a:off x="417750" y="7400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Estimated implementation cost (optional)</a:t>
            </a:r>
            <a:endParaRPr sz="1600" b="1">
              <a:latin typeface="Geist"/>
              <a:ea typeface="Geist"/>
              <a:cs typeface="Geist"/>
              <a:sym typeface="Geist"/>
            </a:endParaRPr>
          </a:p>
        </p:txBody>
      </p:sp>
      <p:sp>
        <p:nvSpPr>
          <p:cNvPr id="135" name="Google Shape;135;p21"/>
          <p:cNvSpPr txBox="1"/>
          <p:nvPr/>
        </p:nvSpPr>
        <p:spPr>
          <a:xfrm>
            <a:off x="417750" y="1251704"/>
            <a:ext cx="8308500" cy="280975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Geist"/>
              <a:ea typeface="Geist"/>
              <a:cs typeface="Geist"/>
              <a:sym typeface="Geist"/>
            </a:endParaRPr>
          </a:p>
        </p:txBody>
      </p:sp>
      <p:pic>
        <p:nvPicPr>
          <p:cNvPr id="136" name="Google Shape;136;p21"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a:extLst>
              <a:ext uri="{FF2B5EF4-FFF2-40B4-BE49-F238E27FC236}">
                <a16:creationId xmlns:a16="http://schemas.microsoft.com/office/drawing/2014/main" id="{2AAB00E0-1921-EE2F-985A-7E2A750888F4}"/>
              </a:ext>
            </a:extLst>
          </p:cNvPr>
          <p:cNvPicPr>
            <a:picLocks noChangeAspect="1"/>
          </p:cNvPicPr>
          <p:nvPr/>
        </p:nvPicPr>
        <p:blipFill>
          <a:blip r:embed="rId4"/>
          <a:stretch>
            <a:fillRect/>
          </a:stretch>
        </p:blipFill>
        <p:spPr>
          <a:xfrm>
            <a:off x="693084" y="1314341"/>
            <a:ext cx="7757832" cy="251481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22"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42" name="Google Shape;142;p22"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43" name="Google Shape;143;p22"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44" name="Google Shape;144;p22"/>
          <p:cNvSpPr txBox="1"/>
          <p:nvPr/>
        </p:nvSpPr>
        <p:spPr>
          <a:xfrm>
            <a:off x="417750" y="7400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latin typeface="Geist"/>
                <a:ea typeface="Geist"/>
                <a:cs typeface="Geist"/>
                <a:sym typeface="Geist"/>
              </a:rPr>
              <a:t>Type here…</a:t>
            </a:r>
            <a:endParaRPr>
              <a:latin typeface="Geist"/>
              <a:ea typeface="Geist"/>
              <a:cs typeface="Geist"/>
              <a:sym typeface="Geist"/>
            </a:endParaRPr>
          </a:p>
        </p:txBody>
      </p:sp>
      <p:pic>
        <p:nvPicPr>
          <p:cNvPr id="145" name="Google Shape;145;p22"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3" title="ES.S3.png"/>
          <p:cNvPicPr preferRelativeResize="0"/>
          <p:nvPr/>
        </p:nvPicPr>
        <p:blipFill>
          <a:blip r:embed="rId3">
            <a:alphaModFix/>
          </a:blip>
          <a:stretch>
            <a:fillRect/>
          </a:stretch>
        </p:blipFill>
        <p:spPr>
          <a:xfrm>
            <a:off x="0" y="0"/>
            <a:ext cx="9143998" cy="5147528"/>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754</Words>
  <Application>Microsoft Office PowerPoint</Application>
  <PresentationFormat>On-screen Show (16:9)</PresentationFormat>
  <Paragraphs>36</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Geist</vt:lpstr>
      <vt:lpstr>Times New Roman</vt:lpstr>
      <vt:lpstr>Simple Light</vt:lpstr>
      <vt:lpstr>PowerPoint Presentation</vt:lpstr>
      <vt:lpstr>PowerPoint Presentation</vt:lpstr>
      <vt:lpstr>PowerPoint Presentation</vt:lpstr>
      <vt:lpstr>🔹 How will it be able to solve the problem?        Krishi-Patra directly addresses the Crop–Credit Mismatch through: Predictive risk detection — AI models anticipate crop stress weeks before failure Proactive interventions — top-ups, restructuring and advisories to prevent distress Automated insurance activation — catastrophic events trigger claim workflows without manual paperwork Transparent data sharing on blockchain — removing disputes between farmers, bankers and insurers Portfolio-level risk intelligence — early warning system for banks to reduce NPAs This ensures financial resilience for farmers and risk-controlled profitability for lenders, enabling wider and safer credit access for smallholders. </vt:lpstr>
      <vt:lpstr>🔹 USP of the proposed solution  Crop Viability Score (CVS): The core metric predicts crop success probability and links it directly to credit decisions, interest rates, and repayment schedules — a first of its kind in agri-finance. Digital Twin of the Crop: A virtual replica of every financed crop enables continuous monitoring and event-based financial actions. Crop-Cycle Smart Contracts: Loan disbursements, restructuring, and insurance payouts are governed partly by oracle data (satellite + weather), reducing human delay, fraud and bias. Regulatory-Sandbox Ready: Natively aligned with Agri-Stack, RBI HaR (Harvest-and-Repayment framework), PSL requirements, and NABARD’s rural credit expansion mission.   Krishi-Patra doesn’t just approve a loan — it protects the crop until harvest. This is what makes it high-impact, scalable, and financially transformative for the agricultural lending ecosystem.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yessasvini yessasvini</cp:lastModifiedBy>
  <cp:revision>1</cp:revision>
  <dcterms:modified xsi:type="dcterms:W3CDTF">2025-11-25T08:41:02Z</dcterms:modified>
</cp:coreProperties>
</file>